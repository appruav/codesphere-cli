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3"/>
  </p:notesMasterIdLst>
  <p:handoutMasterIdLst>
    <p:handoutMasterId r:id="rId14"/>
  </p:handoutMasterIdLst>
  <p:sldIdLst>
    <p:sldId id="256" r:id="rId5"/>
    <p:sldId id="257" r:id="rId6"/>
    <p:sldId id="269" r:id="rId7"/>
    <p:sldId id="270" r:id="rId8"/>
    <p:sldId id="271" r:id="rId9"/>
    <p:sldId id="273" r:id="rId10"/>
    <p:sldId id="272" r:id="rId11"/>
    <p:sldId id="268" r:id="rId12"/>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000" b="0" strike="noStrike" spc="-1" dirty="0" err="1">
                <a:solidFill>
                  <a:srgbClr val="000000"/>
                </a:solidFill>
                <a:latin typeface="Times New Roman" panose="02020603050405020304" pitchFamily="18" charset="0"/>
                <a:ea typeface="MS PGothic"/>
                <a:cs typeface="Times New Roman" panose="02020603050405020304" pitchFamily="18" charset="0"/>
              </a:rPr>
              <a:t>CodeSphere</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-CLI</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Appurav</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2210991329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Dr Rajat </a:t>
            </a:r>
            <a:r>
              <a:rPr lang="en-US" sz="2000" spc="-1" dirty="0" err="1">
                <a:latin typeface="Times New Roman" panose="02020603050405020304" pitchFamily="18" charset="0"/>
                <a:ea typeface="MS PGothic"/>
                <a:cs typeface="Times New Roman" panose="02020603050405020304" pitchFamily="18" charset="0"/>
              </a:rPr>
              <a:t>Takkar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sz="2800" dirty="0" err="1"/>
              <a:t>CodeSphere</a:t>
            </a:r>
            <a:r>
              <a:rPr lang="en-US" sz="2800" dirty="0"/>
              <a:t>-CLI is a secure web-based online compiler that allows users to write, compile, and execute C++ and Java programs using Docker-based containerized execution</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0EAA5-412E-7647-FBB8-B78159AC545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4BE2DDD-3116-750E-2A1A-C277B3FC613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1D786D54-C465-D3F1-1C9D-BF7B1B1A18F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AE19E9BD-D4F2-B011-DE2D-67FA6656F9AF}"/>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342900" indent="-342900">
              <a:buFont typeface="Arial" panose="020B0604020202020204" pitchFamily="34" charset="0"/>
              <a:buChar char="•"/>
            </a:pPr>
            <a:r>
              <a:rPr lang="en-US" sz="2000" dirty="0"/>
              <a:t>Setting up local compilers often becomes a challenging and time-consuming task, especially for beginners who are not familiar with configuration processes and environment setup. This complexity can create a barrier to learning and productivity. In addition to this, executing code in shared or centralized environments introduces significant security risks, as malicious or poorly written code may compromise system resources or affect other users.</a:t>
            </a:r>
          </a:p>
          <a:p>
            <a:pPr marL="342900" indent="-342900">
              <a:buFont typeface="Arial" panose="020B0604020202020204" pitchFamily="34" charset="0"/>
              <a:buChar char="•"/>
            </a:pPr>
            <a:r>
              <a:rPr lang="en-US" sz="2000" dirty="0"/>
              <a:t>Moreover, many existing online compiler systems fail to provide proper isolation mechanisms, which increases the chances of unauthorized access and resource misuse. The absence of strong isolation also makes these systems unreliable for handling multiple users simultaneously. Therefore, there is a growing need for a scalable and secure online execution platform that can efficiently manage multiple users while ensuring complete isolation and protection of system resources.</a:t>
            </a: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335024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BC1D2-8283-A975-FCB6-92120792DBE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0EDAE44-5ABD-52FD-123B-A3A363C28A73}"/>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Objective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F4F2496-40D3-ACEE-EFC7-EECDA372DD7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E6A6BC5F-4D92-4A95-BCFF-FEF8CEC43374}"/>
              </a:ext>
            </a:extLst>
          </p:cNvPr>
          <p:cNvSpPr txBox="1"/>
          <p:nvPr/>
        </p:nvSpPr>
        <p:spPr>
          <a:xfrm>
            <a:off x="164008" y="1109742"/>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US" sz="2000" dirty="0"/>
              <a:t>The primary objective of this project is to design and develop a secure web-based online compiler that ensures safe and efficient code execution. The system is intended to support widely used programming languages such as C++ and Java, enabling users to write and execute their code seamlessly within a browser environment. A key focus of the project is to provide real-time code execution, allowing users to instantly view outputs and debug their programs effectively.</a:t>
            </a:r>
          </a:p>
          <a:p>
            <a:pPr marL="342900" indent="-342900">
              <a:buFont typeface="Arial" panose="020B0604020202020204" pitchFamily="34" charset="0"/>
              <a:buChar char="•"/>
            </a:pPr>
            <a:r>
              <a:rPr lang="en-US" sz="2000" dirty="0"/>
              <a:t>In addition to functionality, the project emphasizes improving accessibility by eliminating the need for complex local installations and configurations. This makes the platform highly user-friendly, especially for students and beginners. Overall, the system aims to enhance usability while maintaining strong security and performance standards, creating a reliable and efficient coding environment.</a:t>
            </a:r>
          </a:p>
        </p:txBody>
      </p:sp>
    </p:spTree>
    <p:extLst>
      <p:ext uri="{BB962C8B-B14F-4D97-AF65-F5344CB8AC3E}">
        <p14:creationId xmlns:p14="http://schemas.microsoft.com/office/powerpoint/2010/main" val="1253965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E832-3F35-05C3-AC5C-798BB5753B6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4BAE292-0852-1BA3-FA69-A48570246AB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Key Features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25DEB5E-190F-B3F8-54C5-9A04E590E00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FA2ACDB9-4492-F60C-9BAE-4CC9AEDC45F0}"/>
              </a:ext>
            </a:extLst>
          </p:cNvPr>
          <p:cNvSpPr txBox="1"/>
          <p:nvPr/>
        </p:nvSpPr>
        <p:spPr>
          <a:xfrm>
            <a:off x="164008" y="1109742"/>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US" sz="2000" dirty="0"/>
              <a:t>The system is designed to support multiple programming languages, enabling users to work with both C++ and Java within a single platform. It ensures secure execution of code by utilizing isolated environments, thereby protecting system resources and preventing unauthorized access. Additionally, the platform provides real-time input and output functionality, allowing users to interact with their programs dynamically and observe results instantly.</a:t>
            </a:r>
          </a:p>
          <a:p>
            <a:pPr marL="342900" indent="-342900">
              <a:buFont typeface="Arial" panose="020B0604020202020204" pitchFamily="34" charset="0"/>
              <a:buChar char="•"/>
            </a:pPr>
            <a:r>
              <a:rPr lang="en-US" sz="2000" dirty="0"/>
              <a:t>The system also incorporates effective error handling mechanisms, which help users identify and resolve issues in their code efficiently. Furthermore, it is built to support multiple users simultaneously, ensuring a smooth and reliable experience even in a shared environment. Overall, these features contribute to creating a robust, secure, and user-friendly online coding platform.</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3096729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EAECB-F59A-61A6-21AC-E63320A7313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5C07221-9C80-95BA-C6C4-65F1F457E740}"/>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Technologies Used</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A80E1888-6E29-836B-B0C5-2739CFE0E48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BCD60F58-24D5-8EE3-9C95-0FADB8D322DA}"/>
              </a:ext>
            </a:extLst>
          </p:cNvPr>
          <p:cNvSpPr txBox="1"/>
          <p:nvPr/>
        </p:nvSpPr>
        <p:spPr>
          <a:xfrm>
            <a:off x="164008" y="1109742"/>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US" sz="2000" dirty="0"/>
              <a:t>The system is developed using modern web technologies to ensure efficiency and scalability. The frontend is built using React and Next.js, providing a responsive and interactive user interface for writing and managing code. On the backend, Node.js and Express are used to handle server-side logic, manage requests, and coordinate code execution processes effectively.</a:t>
            </a:r>
          </a:p>
          <a:p>
            <a:pPr marL="342900" indent="-342900">
              <a:buFont typeface="Arial" panose="020B0604020202020204" pitchFamily="34" charset="0"/>
              <a:buChar char="•"/>
            </a:pPr>
            <a:r>
              <a:rPr lang="en-US" sz="2000" dirty="0"/>
              <a:t>Docker is utilized as the core technology for containerization, enabling secure and isolated environments for executing user code. This ensures that each program runs independently without affecting the host system. Additionally, the platform supports programming languages through tools such as g++ for compiling C++ code and OpenJDK for executing Java programs, making the system versatile and powerful for developers and learners alike.</a:t>
            </a:r>
          </a:p>
        </p:txBody>
      </p:sp>
    </p:spTree>
    <p:extLst>
      <p:ext uri="{BB962C8B-B14F-4D97-AF65-F5344CB8AC3E}">
        <p14:creationId xmlns:p14="http://schemas.microsoft.com/office/powerpoint/2010/main" val="903603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F41B8-90F4-9A51-AF2A-2D3BF1B9D7F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1B5E30A-E0AC-7C65-8FA4-FEBB9BA6CCC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IN" sz="3200" dirty="0"/>
              <a:t>Expected Outcomes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79F67BFE-E8C7-9F12-D318-E8CB4B68988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3038F7CB-9FFC-3EF4-1111-DCE719A8CD15}"/>
              </a:ext>
            </a:extLst>
          </p:cNvPr>
          <p:cNvSpPr txBox="1"/>
          <p:nvPr/>
        </p:nvSpPr>
        <p:spPr>
          <a:xfrm>
            <a:off x="164008" y="1109742"/>
            <a:ext cx="8838720" cy="4838571"/>
          </a:xfrm>
          <a:prstGeom prst="rect">
            <a:avLst/>
          </a:prstGeom>
          <a:noFill/>
          <a:ln w="9360">
            <a:noFill/>
          </a:ln>
        </p:spPr>
        <p:txBody>
          <a:bodyPr>
            <a:noAutofit/>
          </a:bodyPr>
          <a:lstStyle/>
          <a:p>
            <a:r>
              <a:rPr lang="en-US" sz="2000" dirty="0"/>
              <a:t>The proposed system eliminates the need for any local installation, allowing users to access and use the compiler directly through a web browser, thereby simplifying the overall user experience. It is designed to be both secure and scalable, ensuring reliable performance while handling multiple users simultaneously without compromising system integrity.</a:t>
            </a:r>
          </a:p>
          <a:p>
            <a:r>
              <a:rPr lang="en-US" sz="2000" dirty="0"/>
              <a:t>Additionally, the platform is highly beneficial for both students and developers, as it provides an accessible environment for coding, testing, and learning. By offering a seamless and efficient workflow, the system significantly enhances learning productivity and helps users focus more on problem-solving rather than setup and configuration challenges.</a:t>
            </a:r>
          </a:p>
        </p:txBody>
      </p:sp>
    </p:spTree>
    <p:extLst>
      <p:ext uri="{BB962C8B-B14F-4D97-AF65-F5344CB8AC3E}">
        <p14:creationId xmlns:p14="http://schemas.microsoft.com/office/powerpoint/2010/main" val="971261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34717</TotalTime>
  <Words>748</Words>
  <Application>Microsoft Office PowerPoint</Application>
  <PresentationFormat>On-screen Show (4:3)</PresentationFormat>
  <Paragraphs>58</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appurav nehra</cp:lastModifiedBy>
  <cp:revision>2301</cp:revision>
  <dcterms:created xsi:type="dcterms:W3CDTF">2010-04-09T07:36:15Z</dcterms:created>
  <dcterms:modified xsi:type="dcterms:W3CDTF">2026-04-29T15:32:29Z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